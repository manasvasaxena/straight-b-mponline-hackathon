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GLOBAL HACKATHON DECK | SLIDE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SUTRA — Full-Stack Deep-Tech Architecture (Android &amp; Web)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28416" cy="493776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D4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Calibri"/>
              </a:defRPr>
            </a:pPr>
            <a:r>
              <a:t>Native Android App (APK)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UI &amp; Modern Jetpack Compose
</a:t>
            </a:r>
            <a:r>
              <a:rPr sz="1050">
                <a:solidFill>
                  <a:srgbClr val="9CA3AF"/>
                </a:solidFill>
                <a:latin typeface="Calibri"/>
              </a:rPr>
              <a:t>Declarative UI rendered via Material 3, optimized for high-performance low-spec Android devices (Min SDK 24 / Target SDK 37).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Zero-Internet P2P Battle Engine
</a:t>
            </a:r>
            <a:r>
              <a:rPr sz="1050">
                <a:solidFill>
                  <a:srgbClr val="9CA3AF"/>
                </a:solidFill>
                <a:latin typeface="Calibri"/>
              </a:rPr>
              <a:t>Native Wi-Fi Direct (P2P Manager) &amp; TCP/UDP Sockets enable instant multi-device multiplayer quiz battles with zero internet.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Offline Markdown &amp; Package Parser
</a:t>
            </a:r>
            <a:r>
              <a:rPr sz="1050">
                <a:solidFill>
                  <a:srgbClr val="9CA3AF"/>
                </a:solidFill>
                <a:latin typeface="Calibri"/>
              </a:rPr>
              <a:t>Custom CommonMark GFM parser renders local PKGS bundles, markdown notes, and tables with lightning-fast native speeds.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Resilient State Architecture
</a:t>
            </a:r>
            <a:r>
              <a:rPr sz="1050">
                <a:solidFill>
                  <a:srgbClr val="9CA3AF"/>
                </a:solidFill>
                <a:latin typeface="Calibri"/>
              </a:rPr>
              <a:t>Unidirectional Data Flow with Kotlin StateFlow &amp; Coroutines, ensuring zero UI drops during heavy peer networking.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371600"/>
            <a:ext cx="3328416" cy="493776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D4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508760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Calibri"/>
              </a:defRPr>
            </a:pPr>
            <a:r>
              <a:t>Web Application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19659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Lightweight Vanilla Web Stack
</a:t>
            </a:r>
            <a:r>
              <a:rPr sz="1050">
                <a:solidFill>
                  <a:srgbClr val="9CA3AF"/>
                </a:solidFill>
                <a:latin typeface="Calibri"/>
              </a:rPr>
              <a:t>High-efficiency HTML5, CSS3, and ES6 JavaScript engine built for maximum speed and instant loading across any browser.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Offline LocalStorage Persistence
</a:t>
            </a:r>
            <a:r>
              <a:rPr sz="1050">
                <a:solidFill>
                  <a:srgbClr val="9CA3AF"/>
                </a:solidFill>
                <a:latin typeface="Calibri"/>
              </a:rPr>
              <a:t>Full client-side state machine caching quiz progress, bookmarks, and user session metrics directly on device.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Cross-Platform Web Engine
</a:t>
            </a:r>
            <a:r>
              <a:rPr sz="1050">
                <a:solidFill>
                  <a:srgbClr val="9CA3AF"/>
                </a:solidFill>
                <a:latin typeface="Calibri"/>
              </a:rPr>
              <a:t>Unified component structure guaranteeing 100% feature parity with Android app UI across tablets, PCs, and web kiosks.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Zero-Dependency Execution
</a:t>
            </a:r>
            <a:r>
              <a:rPr sz="1050">
                <a:solidFill>
                  <a:srgbClr val="9CA3AF"/>
                </a:solidFill>
                <a:latin typeface="Calibri"/>
              </a:rPr>
              <a:t>Pure native browser capabilities eliminate external bundle overhead, ensuring instant boot times even on legacy hardware.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371600"/>
            <a:ext cx="3328416" cy="493776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D4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508760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Calibri"/>
              </a:defRPr>
            </a:pPr>
            <a:r>
              <a:t>Offline Core &amp; Sync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9659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Local PKGS Content System
</a:t>
            </a:r>
            <a:r>
              <a:rPr sz="1050">
                <a:solidFill>
                  <a:srgbClr val="9CA3AF"/>
                </a:solidFill>
                <a:latin typeface="Calibri"/>
              </a:rPr>
              <a:t>Pre-packaged offline learning bundles (MD format) providing instant subject access without cloud round-trips.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Sync Queue &amp; Offline Buffer
</a:t>
            </a:r>
            <a:r>
              <a:rPr sz="1050">
                <a:solidFill>
                  <a:srgbClr val="9CA3AF"/>
                </a:solidFill>
                <a:latin typeface="Calibri"/>
              </a:rPr>
              <a:t>Intelligent transaction logger queues user progress offline and seamlessly reconciles states upon network availability.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Cross-Layer Protocol Contract
</a:t>
            </a:r>
            <a:r>
              <a:rPr sz="1050">
                <a:solidFill>
                  <a:srgbClr val="9CA3AF"/>
                </a:solidFill>
                <a:latin typeface="Calibri"/>
              </a:rPr>
              <a:t>Shared JSON/Markdown schemas ensure frictionless data compatibility between Android native and Web platforms.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Production Build System
</a:t>
            </a:r>
            <a:r>
              <a:rPr sz="1050">
                <a:solidFill>
                  <a:srgbClr val="9CA3AF"/>
                </a:solidFill>
                <a:latin typeface="Calibri"/>
              </a:rPr>
              <a:t>Gradle build pipelines configured for dynamic artifact naming (`sutra.apk`) and automated optimized web bundling.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GLOBAL HACKATHON DECK | SLIDE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End-to-End System Workflow &amp; Peer-to-Peer Data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75504" cy="493776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D4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09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Calibri"/>
              </a:defRPr>
            </a:pPr>
            <a:r>
              <a:t>A. Offline Core &amp; Data Lifecycle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1. Offline PKGS Content Ingestion
</a:t>
            </a:r>
            <a:r>
              <a:rPr sz="1050">
                <a:solidFill>
                  <a:srgbClr val="9CA3AF"/>
                </a:solidFill>
                <a:latin typeface="Calibri"/>
              </a:rPr>
              <a:t>Local Markdown packages (.md) loaded instantly from local storage into memory; CommonMark parses GFM tables &amp; formatting.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2. Interactive Student Execution
</a:t>
            </a:r>
            <a:r>
              <a:rPr sz="1050">
                <a:solidFill>
                  <a:srgbClr val="9CA3AF"/>
                </a:solidFill>
                <a:latin typeface="Calibri"/>
              </a:rPr>
              <a:t>Students engage in interactive lessons, offline doubt solving, and structured quizzes across Android or Web interface.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3. Atomic Local Storage &amp; Buffering
</a:t>
            </a:r>
            <a:r>
              <a:rPr sz="1050">
                <a:solidFill>
                  <a:srgbClr val="9CA3AF"/>
                </a:solidFill>
                <a:latin typeface="Calibri"/>
              </a:rPr>
              <a:t>All scores, quiz completion metrics, and state changes are written instantly to local state repository and sync queue.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4. Seamless Background Synchronization
</a:t>
            </a:r>
            <a:r>
              <a:rPr sz="1050">
                <a:solidFill>
                  <a:srgbClr val="9CA3AF"/>
                </a:solidFill>
                <a:latin typeface="Calibri"/>
              </a:rPr>
              <a:t>When connectivity is detected, Sync Queue automatically flushes buffered transactions to server without user friction.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371600"/>
            <a:ext cx="5175504" cy="4937760"/>
          </a:xfrm>
          <a:prstGeom prst="roundRect">
            <a:avLst/>
          </a:prstGeom>
          <a:solidFill>
            <a:srgbClr val="151D2E"/>
          </a:solidFill>
          <a:ln w="12700">
            <a:solidFill>
              <a:srgbClr val="2D4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508760"/>
            <a:ext cx="4809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Calibri"/>
              </a:defRPr>
            </a:pPr>
            <a:r>
              <a:t>B. P2P Quiz Battle Real-Time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196596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1. Wi-Fi Direct Peer Discovery
</a:t>
            </a:r>
            <a:r>
              <a:rPr sz="1050">
                <a:solidFill>
                  <a:srgbClr val="9CA3AF"/>
                </a:solidFill>
                <a:latin typeface="Calibri"/>
              </a:rPr>
              <a:t>Host initiates battle room; WifiDirectManager scans local frequency bands and establishes secure direct connection.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2. Socket Handshake &amp; Room Setup
</a:t>
            </a:r>
            <a:r>
              <a:rPr sz="1050">
                <a:solidFill>
                  <a:srgbClr val="9CA3AF"/>
                </a:solidFill>
                <a:latin typeface="Calibri"/>
              </a:rPr>
              <a:t>TCP Server Socket opens on Host; Client connects via IP. Question packages and battle configuration synced in &lt;50ms.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3. Real-Time Peer Battle Mechanics
</a:t>
            </a:r>
            <a:r>
              <a:rPr sz="1050">
                <a:solidFill>
                  <a:srgbClr val="9CA3AF"/>
                </a:solidFill>
                <a:latin typeface="Calibri"/>
              </a:rPr>
              <a:t>Players submit answers simultaneously; binary battle protocol broadcasts live score updates and timing over local sockets.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  <a:latin typeface="Calibri"/>
              </a:rPr>
              <a:t>4. Winner Reconciliation &amp; Broadcast
</a:t>
            </a:r>
            <a:r>
              <a:rPr sz="1050">
                <a:solidFill>
                  <a:srgbClr val="9CA3AF"/>
                </a:solidFill>
                <a:latin typeface="Calibri"/>
              </a:rPr>
              <a:t>Host calculates final leaderboards, generates BattleFinalSummary, and broadcasts final results to all connected peers.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